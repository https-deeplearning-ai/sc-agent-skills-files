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14300"/>
          </a:xfrm>
          <a:prstGeom prst="rect">
            <a:avLst/>
          </a:prstGeom>
          <a:solidFill>
            <a:srgbClr val="5A2C1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5067300"/>
            <a:ext cx="9144000" cy="76200"/>
          </a:xfrm>
          <a:prstGeom prst="rect">
            <a:avLst/>
          </a:prstGeom>
          <a:solidFill>
            <a:srgbClr val="3D23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5A2C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Weekly Report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4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December 16–22, 2024</a:t>
            </a:r>
            <a:endParaRPr lang="en-US" sz="2000" dirty="0"/>
          </a:p>
        </p:txBody>
      </p:sp>
      <p:pic>
        <p:nvPicPr>
          <p:cNvPr id="6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14750" y="4286250"/>
            <a:ext cx="1714500" cy="4762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5A2C1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228600"/>
            <a:ext cx="442055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5A2C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04800" y="1741289"/>
            <a:ext cx="2768650" cy="609600"/>
          </a:xfrm>
          <a:prstGeom prst="roundRect">
            <a:avLst>
              <a:gd name="adj" fmla="val 9375"/>
            </a:avLst>
          </a:prstGeom>
          <a:solidFill>
            <a:srgbClr val="FDF8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23850" y="1741289"/>
            <a:ext cx="0" cy="609600"/>
          </a:xfrm>
          <a:prstGeom prst="line">
            <a:avLst/>
          </a:prstGeom>
          <a:noFill/>
          <a:ln w="38100">
            <a:solidFill>
              <a:srgbClr val="5A7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150" y="1836539"/>
            <a:ext cx="25908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750" dirty="0">
                <a:solidFill>
                  <a:srgbClr val="8B4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REVENUE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38150" y="1988939"/>
            <a:ext cx="259085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A7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$902,019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187750" y="1741289"/>
            <a:ext cx="2768650" cy="609600"/>
          </a:xfrm>
          <a:prstGeom prst="roundRect">
            <a:avLst>
              <a:gd name="adj" fmla="val 9375"/>
            </a:avLst>
          </a:prstGeom>
          <a:solidFill>
            <a:srgbClr val="FDF8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206800" y="1741289"/>
            <a:ext cx="0" cy="609600"/>
          </a:xfrm>
          <a:prstGeom prst="line">
            <a:avLst/>
          </a:prstGeom>
          <a:noFill/>
          <a:ln w="38100">
            <a:solidFill>
              <a:srgbClr val="8B4A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21100" y="1836539"/>
            <a:ext cx="25908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750" dirty="0">
                <a:solidFill>
                  <a:srgbClr val="8B4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SPEND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321100" y="1988939"/>
            <a:ext cx="259085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8B4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$126,356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070699" y="1741289"/>
            <a:ext cx="2768650" cy="609600"/>
          </a:xfrm>
          <a:prstGeom prst="roundRect">
            <a:avLst>
              <a:gd name="adj" fmla="val 9375"/>
            </a:avLst>
          </a:prstGeom>
          <a:solidFill>
            <a:srgbClr val="FDF8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089749" y="1741289"/>
            <a:ext cx="0" cy="609600"/>
          </a:xfrm>
          <a:prstGeom prst="line">
            <a:avLst/>
          </a:prstGeom>
          <a:noFill/>
          <a:ln w="38100">
            <a:solidFill>
              <a:srgbClr val="C07F4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04049" y="1836539"/>
            <a:ext cx="25908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750" dirty="0">
                <a:solidFill>
                  <a:srgbClr val="8B4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ORDERS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204049" y="1988939"/>
            <a:ext cx="259085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C07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8,720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04800" y="2446139"/>
            <a:ext cx="8534400" cy="1127373"/>
          </a:xfrm>
          <a:prstGeom prst="roundRect">
            <a:avLst>
              <a:gd name="adj" fmla="val 5069"/>
            </a:avLst>
          </a:prstGeom>
          <a:solidFill>
            <a:srgbClr val="FFFFFF"/>
          </a:solidFill>
          <a:ln w="9525">
            <a:solidFill>
              <a:srgbClr val="E5D5C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09575" y="2550914"/>
            <a:ext cx="849134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5A2C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24321" y="2768054"/>
            <a:ext cx="375822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3D23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leads performance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3D23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highest ROAS (147.9x) and lowest CPA ($0.71)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524321" y="2952750"/>
            <a:ext cx="308300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3D23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Ads exceeds targets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3D23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7.03x ROAS and $15.21 CPA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524321" y="3137446"/>
            <a:ext cx="34353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3D23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Facebook Ads meets benchmarks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3D23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5.39x ROAS and positive profit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524321" y="3322141"/>
            <a:ext cx="321097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3D23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 Ads underperforming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3D23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1.80x ROAS (below 4.0x target)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304800" y="4781550"/>
            <a:ext cx="87050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B4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BigQuery · Dec 16–22, 2024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5A2C1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5A2C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Funnel Analysis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590550"/>
            <a:ext cx="85496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450"/>
              </a:spcBef>
              <a:buNone/>
            </a:pPr>
            <a:r>
              <a:rPr lang="en-US" sz="975" dirty="0">
                <a:solidFill>
                  <a:srgbClr val="8B4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 and CVR vs Benchmarks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381000" y="47815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B4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Benchmarks: FB 2.5%/3.8%, Google 5.0%/4.5%, TikTok 2.0%/0.9%, Email —/2.1%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1000" y="1030486"/>
          <a:ext cx="8382000" cy="3484364"/>
        </p:xfrm>
        <a:graphic>
          <a:graphicData uri="http://schemas.openxmlformats.org/drawingml/2006/table">
            <a:tbl>
              <a:tblPr/>
              <a:tblGrid>
                <a:gridCol w="1371600"/>
                <a:gridCol w="1005840"/>
                <a:gridCol w="1188720"/>
                <a:gridCol w="914400"/>
                <a:gridCol w="1005840"/>
                <a:gridCol w="1188720"/>
                <a:gridCol w="914400"/>
              </a:tblGrid>
              <a:tr h="69687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2C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CTR Actual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2C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CTR Benchmark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2C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CTR Diff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2C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CVR Actual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2C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CVR Benchmark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2C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CVR Diff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2C10"/>
                    </a:solidFill>
                  </a:tcPr>
                </a:tc>
              </a:tr>
              <a:tr h="69687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D23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Facebook Ads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23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2.81%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4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A7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+0.31pp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23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3.44%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4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5C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-0.36pp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687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D23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 Ads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23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3.24%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4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5.00%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5C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-1.76pp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23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5.58%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4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4.50%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A7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+1.08pp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3"/>
                    </a:solidFill>
                  </a:tcPr>
                </a:tc>
              </a:tr>
              <a:tr h="69687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D23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TikTok Ads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23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2.03%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4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A7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+0.03pp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23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1.09%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4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A7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+0.19pp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687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D23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Email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4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4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15.00%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4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23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4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A7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+0.30pp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5A2C1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5A2C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Efficiency Analysis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590550"/>
            <a:ext cx="85496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450"/>
              </a:spcBef>
              <a:buNone/>
            </a:pPr>
            <a:r>
              <a:rPr lang="en-US" sz="975" dirty="0">
                <a:solidFill>
                  <a:srgbClr val="8B4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ROAS, CPA, and Net Profit by Channel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381000" y="47815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B4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Targets: ROAS ≥4.0x, CPA ≤$50 · Net Profit = Revenue - Spend - Shipping - COGS</a:t>
            </a:r>
            <a:endParaRPr lang="en-US" sz="7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1000" y="1030486"/>
          <a:ext cx="8382000" cy="3484364"/>
        </p:xfrm>
        <a:graphic>
          <a:graphicData uri="http://schemas.openxmlformats.org/drawingml/2006/table">
            <a:tbl>
              <a:tblPr/>
              <a:tblGrid>
                <a:gridCol w="1371600"/>
                <a:gridCol w="914400"/>
                <a:gridCol w="1005840"/>
                <a:gridCol w="914400"/>
                <a:gridCol w="1005840"/>
                <a:gridCol w="1188720"/>
                <a:gridCol w="1097280"/>
              </a:tblGrid>
              <a:tr h="69687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2C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ROAS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2C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2C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2C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2C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Profit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2C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2C10"/>
                    </a:solidFill>
                  </a:tcPr>
                </a:tc>
              </a:tr>
              <a:tr h="69687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D23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Facebook Ads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23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5.39x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A7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Above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23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$19.05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A7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Below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23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$89,119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A7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Positive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687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D23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 Ads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23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7.03x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A7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Above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23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$15.21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A7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Below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23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$102,435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A7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Positive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3"/>
                    </a:solidFill>
                  </a:tcPr>
                </a:tc>
              </a:tr>
              <a:tr h="69687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D23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TikTok Ads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23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1.80x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5C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 Below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23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$50.54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5C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 Above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23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$683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A7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Positive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687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D23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Email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23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147.9x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A7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Above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23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$0.71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A7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Below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23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$197,958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A7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Positive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Report - December 16-22, 2024</dc:title>
  <dc:subject>PptxGenJS Presentation</dc:subject>
  <dc:creator>CraftedWell Marketing</dc:creator>
  <cp:lastModifiedBy>CraftedWell Marketing</cp:lastModifiedBy>
  <cp:revision>1</cp:revision>
  <dcterms:created xsi:type="dcterms:W3CDTF">2026-01-21T12:19:34Z</dcterms:created>
  <dcterms:modified xsi:type="dcterms:W3CDTF">2026-01-21T12:19:34Z</dcterms:modified>
</cp:coreProperties>
</file>